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6"/>
  </p:notesMasterIdLst>
  <p:handoutMasterIdLst>
    <p:handoutMasterId r:id="rId77"/>
  </p:handout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70" r:id="rId13"/>
    <p:sldId id="268" r:id="rId14"/>
    <p:sldId id="269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8" r:id="rId42"/>
    <p:sldId id="297" r:id="rId43"/>
    <p:sldId id="299" r:id="rId44"/>
    <p:sldId id="300" r:id="rId45"/>
    <p:sldId id="301" r:id="rId46"/>
    <p:sldId id="302" r:id="rId47"/>
    <p:sldId id="304" r:id="rId48"/>
    <p:sldId id="305" r:id="rId49"/>
    <p:sldId id="306" r:id="rId50"/>
    <p:sldId id="307" r:id="rId51"/>
    <p:sldId id="308" r:id="rId52"/>
    <p:sldId id="309" r:id="rId53"/>
    <p:sldId id="311" r:id="rId54"/>
    <p:sldId id="312" r:id="rId55"/>
    <p:sldId id="313" r:id="rId56"/>
    <p:sldId id="314" r:id="rId57"/>
    <p:sldId id="315" r:id="rId58"/>
    <p:sldId id="316" r:id="rId59"/>
    <p:sldId id="317" r:id="rId60"/>
    <p:sldId id="326" r:id="rId61"/>
    <p:sldId id="327" r:id="rId62"/>
    <p:sldId id="328" r:id="rId63"/>
    <p:sldId id="330" r:id="rId64"/>
    <p:sldId id="331" r:id="rId65"/>
    <p:sldId id="318" r:id="rId66"/>
    <p:sldId id="319" r:id="rId67"/>
    <p:sldId id="320" r:id="rId68"/>
    <p:sldId id="321" r:id="rId69"/>
    <p:sldId id="322" r:id="rId70"/>
    <p:sldId id="323" r:id="rId71"/>
    <p:sldId id="324" r:id="rId72"/>
    <p:sldId id="325" r:id="rId73"/>
    <p:sldId id="332" r:id="rId74"/>
    <p:sldId id="329" r:id="rId7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F175DFA1-A903-4771-982C-54B99358CAA6}">
          <p14:sldIdLst>
            <p14:sldId id="257"/>
          </p14:sldIdLst>
        </p14:section>
        <p14:section name="C语言 - 第二章" id="{8BD7FAF1-389D-4672-8BC2-E03F0BBCDCF7}">
          <p14:sldIdLst>
            <p14:sldId id="258"/>
            <p14:sldId id="259"/>
            <p14:sldId id="260"/>
            <p14:sldId id="261"/>
          </p14:sldIdLst>
        </p14:section>
        <p14:section name="C语言 - 第三章" id="{10B8D58D-9FE4-48EC-8033-95586565B62A}">
          <p14:sldIdLst>
            <p14:sldId id="262"/>
            <p14:sldId id="263"/>
          </p14:sldIdLst>
        </p14:section>
        <p14:section name="C语言 - 第四章" id="{FDA529E8-EA46-47C0-B820-3C96EA205FEE}">
          <p14:sldIdLst>
            <p14:sldId id="264"/>
            <p14:sldId id="265"/>
            <p14:sldId id="266"/>
          </p14:sldIdLst>
        </p14:section>
        <p14:section name="C语言 - 第五章" id="{44998997-E997-4497-8F08-EEF1BCE3CAD4}">
          <p14:sldIdLst>
            <p14:sldId id="267"/>
            <p14:sldId id="270"/>
            <p14:sldId id="268"/>
            <p14:sldId id="269"/>
          </p14:sldIdLst>
        </p14:section>
        <p14:section name="C语言 - 第六章" id="{003EC616-FAF5-410C-8EE8-4D46CD04FAF1}">
          <p14:sldIdLst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C语言 - 第七章" id="{14BC011D-FF67-4834-92E5-A469BACB185F}">
          <p14:sldIdLst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</p14:sldIdLst>
        </p14:section>
        <p14:section name="C语言 - 第八章" id="{5EB37916-6A37-4C8F-BA1C-3588BB2AB35A}">
          <p14:sldIdLst>
            <p14:sldId id="295"/>
            <p14:sldId id="296"/>
            <p14:sldId id="298"/>
            <p14:sldId id="297"/>
          </p14:sldIdLst>
        </p14:section>
        <p14:section name="C语言 - 第九章 指针" id="{420BA3A0-88AD-4718-8088-97D0A24E6BE9}">
          <p14:sldIdLst>
            <p14:sldId id="299"/>
            <p14:sldId id="300"/>
            <p14:sldId id="301"/>
            <p14:sldId id="302"/>
            <p14:sldId id="304"/>
            <p14:sldId id="305"/>
            <p14:sldId id="306"/>
            <p14:sldId id="307"/>
            <p14:sldId id="308"/>
            <p14:sldId id="309"/>
            <p14:sldId id="311"/>
            <p14:sldId id="312"/>
            <p14:sldId id="313"/>
            <p14:sldId id="314"/>
            <p14:sldId id="315"/>
            <p14:sldId id="316"/>
            <p14:sldId id="317"/>
            <p14:sldId id="326"/>
            <p14:sldId id="327"/>
            <p14:sldId id="328"/>
            <p14:sldId id="330"/>
            <p14:sldId id="331"/>
          </p14:sldIdLst>
        </p14:section>
        <p14:section name="C语言 - 第十章" id="{5314AB56-4F83-421D-8A88-8E1A8855317A}">
          <p14:sldIdLst>
            <p14:sldId id="318"/>
            <p14:sldId id="319"/>
            <p14:sldId id="320"/>
            <p14:sldId id="321"/>
            <p14:sldId id="322"/>
            <p14:sldId id="323"/>
            <p14:sldId id="324"/>
            <p14:sldId id="325"/>
          </p14:sldIdLst>
        </p14:section>
        <p14:section name="C语言 - 第十一章" id="{5B674738-3F4D-4A3B-8106-250F6BB36055}">
          <p14:sldIdLst/>
        </p14:section>
        <p14:section name="C语言 - 第十二章" id="{B7E07EA1-08AB-4104-A6B4-BCA60D873B9F}">
          <p14:sldIdLst/>
        </p14:section>
        <p14:section name="C++语言 - 第十三章" id="{067E9523-9FD9-48E1-AB07-C39065B5E703}">
          <p14:sldIdLst/>
        </p14:section>
        <p14:section name="封面" id="{6D6F9A05-B1CC-4C63-959D-14BF78F87133}">
          <p14:sldIdLst>
            <p14:sldId id="332"/>
            <p14:sldId id="329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5AB1C69-6EDB-4FF4-983F-18BD219EF32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181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81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5" d="100"/>
          <a:sy n="65" d="100"/>
        </p:scale>
        <p:origin x="2784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presProps" Target="presProps.xml"/><Relationship Id="rId8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A45BA1-980A-4507-BE5A-5C1E7C2FFD8F}" type="datetimeFigureOut">
              <a:rPr lang="en-US"/>
              <a:t>12/21/2025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E03411-58E2-43FD-AE1D-AD77DFF8CB20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81910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A3416D-7FED-43BC-AA7C-D92DBA01ED64}" type="datetimeFigureOut">
              <a:rPr lang="en-US"/>
              <a:t>12/21/2025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DC57A8-AE18-4654-B6AF-04B3577165BE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813978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265611" y="1752600"/>
            <a:ext cx="6858002" cy="1828800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265610" y="3733800"/>
            <a:ext cx="6858002" cy="9144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9812036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9630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65613" y="1828800"/>
            <a:ext cx="6858002" cy="182880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65610" y="3733800"/>
            <a:ext cx="6858002" cy="9144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29257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5212" y="1825625"/>
            <a:ext cx="4954588" cy="41879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4951414" cy="41879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727551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1681163"/>
            <a:ext cx="495604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505075"/>
            <a:ext cx="4956048" cy="3476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495604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4956048" cy="3476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185716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128164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47874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5212" y="304799"/>
            <a:ext cx="10058402" cy="1216152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grpSp>
        <p:nvGrpSpPr>
          <p:cNvPr id="9" name="Group 8"/>
          <p:cNvGrpSpPr/>
          <p:nvPr/>
        </p:nvGrpSpPr>
        <p:grpSpPr>
          <a:xfrm>
            <a:off x="1052422" y="1733550"/>
            <a:ext cx="4360503" cy="30500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10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3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4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5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6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7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8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9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0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1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6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7"/>
          </p:nvPr>
        </p:nvSpPr>
        <p:spPr>
          <a:xfrm>
            <a:off x="1265028" y="1900210"/>
            <a:ext cx="3935536" cy="2571736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39" name="Text Placeholder 3"/>
          <p:cNvSpPr>
            <a:spLocks noGrp="1"/>
          </p:cNvSpPr>
          <p:nvPr>
            <p:ph type="body" sz="half" idx="2"/>
          </p:nvPr>
        </p:nvSpPr>
        <p:spPr>
          <a:xfrm>
            <a:off x="1052423" y="4935990"/>
            <a:ext cx="4368980" cy="100761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2" name="Group 21"/>
          <p:cNvGrpSpPr/>
          <p:nvPr/>
        </p:nvGrpSpPr>
        <p:grpSpPr>
          <a:xfrm>
            <a:off x="6763111" y="1733550"/>
            <a:ext cx="4360503" cy="30500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2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7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8"/>
          </p:nvPr>
        </p:nvSpPr>
        <p:spPr>
          <a:xfrm>
            <a:off x="6975717" y="1900210"/>
            <a:ext cx="3935536" cy="2571736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40" name="Text Placeholder 3"/>
          <p:cNvSpPr>
            <a:spLocks noGrp="1"/>
          </p:cNvSpPr>
          <p:nvPr>
            <p:ph type="body" sz="half" idx="19"/>
          </p:nvPr>
        </p:nvSpPr>
        <p:spPr>
          <a:xfrm>
            <a:off x="6742908" y="4935990"/>
            <a:ext cx="4368980" cy="100761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12/21/2025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682748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52" name="Group 51"/>
          <p:cNvGrpSpPr>
            <a:grpSpLocks noChangeAspect="1"/>
          </p:cNvGrpSpPr>
          <p:nvPr/>
        </p:nvGrpSpPr>
        <p:grpSpPr>
          <a:xfrm rot="5400000">
            <a:off x="1045139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5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79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9"/>
          </p:nvPr>
        </p:nvSpPr>
        <p:spPr>
          <a:xfrm>
            <a:off x="1249168" y="1824285"/>
            <a:ext cx="2715289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1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5212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84" name="Group 83"/>
          <p:cNvGrpSpPr>
            <a:grpSpLocks noChangeAspect="1"/>
          </p:cNvGrpSpPr>
          <p:nvPr userDrawn="1"/>
        </p:nvGrpSpPr>
        <p:grpSpPr>
          <a:xfrm rot="5400000">
            <a:off x="4517135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85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6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7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8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9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0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1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2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3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4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5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6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78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8"/>
          </p:nvPr>
        </p:nvSpPr>
        <p:spPr>
          <a:xfrm>
            <a:off x="4720924" y="1824285"/>
            <a:ext cx="2715768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2" name="Text Placeholder 3"/>
          <p:cNvSpPr>
            <a:spLocks noGrp="1"/>
          </p:cNvSpPr>
          <p:nvPr>
            <p:ph type="body" sz="half" idx="21"/>
          </p:nvPr>
        </p:nvSpPr>
        <p:spPr>
          <a:xfrm>
            <a:off x="4707208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97" name="Group 96"/>
          <p:cNvGrpSpPr>
            <a:grpSpLocks noChangeAspect="1"/>
          </p:cNvGrpSpPr>
          <p:nvPr userDrawn="1"/>
        </p:nvGrpSpPr>
        <p:grpSpPr>
          <a:xfrm rot="5400000">
            <a:off x="8019009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98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9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0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1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2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3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4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5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6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7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8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9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80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20"/>
          </p:nvPr>
        </p:nvSpPr>
        <p:spPr>
          <a:xfrm>
            <a:off x="8222798" y="1824285"/>
            <a:ext cx="2715768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3" name="Text Placeholder 3"/>
          <p:cNvSpPr>
            <a:spLocks noGrp="1"/>
          </p:cNvSpPr>
          <p:nvPr>
            <p:ph type="body" sz="half" idx="22"/>
          </p:nvPr>
        </p:nvSpPr>
        <p:spPr>
          <a:xfrm>
            <a:off x="8209082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12/21/2025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81935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66214" y="421594"/>
            <a:ext cx="2286000" cy="188550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grpSp>
        <p:nvGrpSpPr>
          <p:cNvPr id="84" name="Group 83"/>
          <p:cNvGrpSpPr>
            <a:grpSpLocks noChangeAspect="1"/>
          </p:cNvGrpSpPr>
          <p:nvPr/>
        </p:nvGrpSpPr>
        <p:grpSpPr>
          <a:xfrm rot="16200000" flipV="1">
            <a:off x="274315" y="1102304"/>
            <a:ext cx="5053664" cy="4411852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85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6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7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8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9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0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1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2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3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4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5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6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97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7"/>
          </p:nvPr>
        </p:nvSpPr>
        <p:spPr>
          <a:xfrm>
            <a:off x="840795" y="1020193"/>
            <a:ext cx="3886200" cy="4572000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grpSp>
        <p:nvGrpSpPr>
          <p:cNvPr id="98" name="Group 97"/>
          <p:cNvGrpSpPr/>
          <p:nvPr/>
        </p:nvGrpSpPr>
        <p:grpSpPr>
          <a:xfrm>
            <a:off x="5322489" y="319177"/>
            <a:ext cx="3389607" cy="27108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99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0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1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2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3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4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5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6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7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8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9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0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111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8"/>
          </p:nvPr>
        </p:nvSpPr>
        <p:spPr>
          <a:xfrm>
            <a:off x="5546780" y="529603"/>
            <a:ext cx="2993366" cy="230533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grpSp>
        <p:nvGrpSpPr>
          <p:cNvPr id="112" name="Group 111"/>
          <p:cNvGrpSpPr/>
          <p:nvPr/>
        </p:nvGrpSpPr>
        <p:grpSpPr>
          <a:xfrm>
            <a:off x="5322489" y="3245640"/>
            <a:ext cx="3389607" cy="27108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11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125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9"/>
          </p:nvPr>
        </p:nvSpPr>
        <p:spPr>
          <a:xfrm>
            <a:off x="5546780" y="3456066"/>
            <a:ext cx="2993366" cy="230533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126" name="Text Placeholder 3"/>
          <p:cNvSpPr>
            <a:spLocks noGrp="1"/>
          </p:cNvSpPr>
          <p:nvPr>
            <p:ph type="body" sz="half" idx="21"/>
          </p:nvPr>
        </p:nvSpPr>
        <p:spPr>
          <a:xfrm>
            <a:off x="9066214" y="2484992"/>
            <a:ext cx="2286000" cy="3248729"/>
          </a:xfrm>
        </p:spPr>
        <p:txBody>
          <a:bodyPr anchor="t" anchorCtr="0"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12/21/2025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87425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11732" y="1330347"/>
            <a:ext cx="384048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6613" y="914400"/>
            <a:ext cx="6172201" cy="50292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11732" y="3555523"/>
            <a:ext cx="3840480" cy="238807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65213" y="6019801"/>
            <a:ext cx="762000" cy="228600"/>
          </a:xfrm>
        </p:spPr>
        <p:txBody>
          <a:bodyPr/>
          <a:lstStyle>
            <a:lvl1pPr algn="l">
              <a:defRPr/>
            </a:lvl1pPr>
          </a:lstStyle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75611" y="6019801"/>
            <a:ext cx="1396260" cy="228600"/>
          </a:xfrm>
        </p:spPr>
        <p:txBody>
          <a:bodyPr/>
          <a:lstStyle/>
          <a:p>
            <a:fld id="{4CF99945-0A15-4715-AB6C-F5E56CF20F70}" type="datetimeFigureOut">
              <a:rPr lang="en-US"/>
              <a:t>12/21/2025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39762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92891" y="1330347"/>
            <a:ext cx="384048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grpSp>
        <p:nvGrpSpPr>
          <p:cNvPr id="8" name="Group 7"/>
          <p:cNvGrpSpPr/>
          <p:nvPr/>
        </p:nvGrpSpPr>
        <p:grpSpPr>
          <a:xfrm>
            <a:off x="595546" y="781398"/>
            <a:ext cx="6433398" cy="5053665"/>
            <a:chOff x="5162444" y="781398"/>
            <a:chExt cx="6433398" cy="5053665"/>
          </a:xfrm>
        </p:grpSpPr>
        <p:sp>
          <p:nvSpPr>
            <p:cNvPr id="9" name="Freeform 42"/>
            <p:cNvSpPr>
              <a:spLocks/>
            </p:cNvSpPr>
            <p:nvPr/>
          </p:nvSpPr>
          <p:spPr bwMode="auto">
            <a:xfrm rot="16200000" flipV="1">
              <a:off x="3342557" y="3275021"/>
              <a:ext cx="3827994" cy="17568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" name="Freeform 43"/>
            <p:cNvSpPr>
              <a:spLocks/>
            </p:cNvSpPr>
            <p:nvPr/>
          </p:nvSpPr>
          <p:spPr bwMode="auto">
            <a:xfrm rot="16200000" flipV="1">
              <a:off x="9565728" y="3299447"/>
              <a:ext cx="3836876" cy="17568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grpSp>
          <p:nvGrpSpPr>
            <p:cNvPr id="11" name="Group 10"/>
            <p:cNvGrpSpPr/>
            <p:nvPr/>
          </p:nvGrpSpPr>
          <p:grpSpPr>
            <a:xfrm>
              <a:off x="5814205" y="859113"/>
              <a:ext cx="5129146" cy="4880471"/>
              <a:chOff x="7856559" y="859113"/>
              <a:chExt cx="3086791" cy="4880471"/>
            </a:xfrm>
          </p:grpSpPr>
          <p:sp>
            <p:nvSpPr>
              <p:cNvPr id="20" name="Freeform 41"/>
              <p:cNvSpPr>
                <a:spLocks/>
              </p:cNvSpPr>
              <p:nvPr/>
            </p:nvSpPr>
            <p:spPr bwMode="auto">
              <a:xfrm rot="16200000" flipV="1">
                <a:off x="9392183" y="4188416"/>
                <a:ext cx="15544" cy="3086791"/>
              </a:xfrm>
              <a:custGeom>
                <a:avLst/>
                <a:gdLst>
                  <a:gd name="T0" fmla="*/ 3 w 5"/>
                  <a:gd name="T1" fmla="*/ 0 h 868"/>
                  <a:gd name="T2" fmla="*/ 4 w 5"/>
                  <a:gd name="T3" fmla="*/ 217 h 868"/>
                  <a:gd name="T4" fmla="*/ 3 w 5"/>
                  <a:gd name="T5" fmla="*/ 326 h 868"/>
                  <a:gd name="T6" fmla="*/ 4 w 5"/>
                  <a:gd name="T7" fmla="*/ 434 h 868"/>
                  <a:gd name="T8" fmla="*/ 4 w 5"/>
                  <a:gd name="T9" fmla="*/ 651 h 868"/>
                  <a:gd name="T10" fmla="*/ 4 w 5"/>
                  <a:gd name="T11" fmla="*/ 760 h 868"/>
                  <a:gd name="T12" fmla="*/ 3 w 5"/>
                  <a:gd name="T13" fmla="*/ 868 h 868"/>
                  <a:gd name="T14" fmla="*/ 2 w 5"/>
                  <a:gd name="T15" fmla="*/ 868 h 868"/>
                  <a:gd name="T16" fmla="*/ 1 w 5"/>
                  <a:gd name="T17" fmla="*/ 760 h 868"/>
                  <a:gd name="T18" fmla="*/ 0 w 5"/>
                  <a:gd name="T19" fmla="*/ 651 h 868"/>
                  <a:gd name="T20" fmla="*/ 1 w 5"/>
                  <a:gd name="T21" fmla="*/ 434 h 868"/>
                  <a:gd name="T22" fmla="*/ 2 w 5"/>
                  <a:gd name="T23" fmla="*/ 326 h 868"/>
                  <a:gd name="T24" fmla="*/ 1 w 5"/>
                  <a:gd name="T25" fmla="*/ 217 h 868"/>
                  <a:gd name="T26" fmla="*/ 2 w 5"/>
                  <a:gd name="T27" fmla="*/ 0 h 868"/>
                  <a:gd name="T28" fmla="*/ 3 w 5"/>
                  <a:gd name="T29" fmla="*/ 0 h 8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" h="868">
                    <a:moveTo>
                      <a:pt x="3" y="0"/>
                    </a:moveTo>
                    <a:cubicBezTo>
                      <a:pt x="4" y="73"/>
                      <a:pt x="4" y="145"/>
                      <a:pt x="4" y="217"/>
                    </a:cubicBezTo>
                    <a:cubicBezTo>
                      <a:pt x="4" y="253"/>
                      <a:pt x="3" y="290"/>
                      <a:pt x="3" y="326"/>
                    </a:cubicBezTo>
                    <a:cubicBezTo>
                      <a:pt x="3" y="362"/>
                      <a:pt x="3" y="398"/>
                      <a:pt x="4" y="434"/>
                    </a:cubicBezTo>
                    <a:cubicBezTo>
                      <a:pt x="4" y="507"/>
                      <a:pt x="5" y="579"/>
                      <a:pt x="4" y="651"/>
                    </a:cubicBezTo>
                    <a:cubicBezTo>
                      <a:pt x="5" y="687"/>
                      <a:pt x="4" y="724"/>
                      <a:pt x="4" y="760"/>
                    </a:cubicBezTo>
                    <a:cubicBezTo>
                      <a:pt x="4" y="796"/>
                      <a:pt x="3" y="832"/>
                      <a:pt x="3" y="868"/>
                    </a:cubicBezTo>
                    <a:cubicBezTo>
                      <a:pt x="2" y="868"/>
                      <a:pt x="2" y="868"/>
                      <a:pt x="2" y="868"/>
                    </a:cubicBezTo>
                    <a:cubicBezTo>
                      <a:pt x="2" y="832"/>
                      <a:pt x="1" y="796"/>
                      <a:pt x="1" y="760"/>
                    </a:cubicBezTo>
                    <a:cubicBezTo>
                      <a:pt x="1" y="724"/>
                      <a:pt x="0" y="687"/>
                      <a:pt x="0" y="651"/>
                    </a:cubicBezTo>
                    <a:cubicBezTo>
                      <a:pt x="0" y="579"/>
                      <a:pt x="1" y="507"/>
                      <a:pt x="1" y="434"/>
                    </a:cubicBezTo>
                    <a:cubicBezTo>
                      <a:pt x="2" y="398"/>
                      <a:pt x="2" y="362"/>
                      <a:pt x="2" y="326"/>
                    </a:cubicBezTo>
                    <a:cubicBezTo>
                      <a:pt x="2" y="290"/>
                      <a:pt x="1" y="253"/>
                      <a:pt x="1" y="217"/>
                    </a:cubicBezTo>
                    <a:cubicBezTo>
                      <a:pt x="0" y="145"/>
                      <a:pt x="1" y="73"/>
                      <a:pt x="2" y="0"/>
                    </a:cubicBezTo>
                    <a:lnTo>
                      <a:pt x="3" y="0"/>
                    </a:lnTo>
                    <a:close/>
                  </a:path>
                </a:pathLst>
              </a:custGeom>
              <a:solidFill>
                <a:schemeClr val="tx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/>
              </a:p>
            </p:txBody>
          </p:sp>
          <p:sp>
            <p:nvSpPr>
              <p:cNvPr id="21" name="Freeform 44"/>
              <p:cNvSpPr>
                <a:spLocks/>
              </p:cNvSpPr>
              <p:nvPr/>
            </p:nvSpPr>
            <p:spPr bwMode="auto">
              <a:xfrm rot="16200000" flipV="1">
                <a:off x="9366943" y="-651271"/>
                <a:ext cx="13322" cy="3034090"/>
              </a:xfrm>
              <a:custGeom>
                <a:avLst/>
                <a:gdLst>
                  <a:gd name="T0" fmla="*/ 2 w 4"/>
                  <a:gd name="T1" fmla="*/ 853 h 853"/>
                  <a:gd name="T2" fmla="*/ 0 w 4"/>
                  <a:gd name="T3" fmla="*/ 640 h 853"/>
                  <a:gd name="T4" fmla="*/ 1 w 4"/>
                  <a:gd name="T5" fmla="*/ 533 h 853"/>
                  <a:gd name="T6" fmla="*/ 1 w 4"/>
                  <a:gd name="T7" fmla="*/ 427 h 853"/>
                  <a:gd name="T8" fmla="*/ 0 w 4"/>
                  <a:gd name="T9" fmla="*/ 213 h 853"/>
                  <a:gd name="T10" fmla="*/ 0 w 4"/>
                  <a:gd name="T11" fmla="*/ 107 h 853"/>
                  <a:gd name="T12" fmla="*/ 2 w 4"/>
                  <a:gd name="T13" fmla="*/ 0 h 853"/>
                  <a:gd name="T14" fmla="*/ 2 w 4"/>
                  <a:gd name="T15" fmla="*/ 0 h 853"/>
                  <a:gd name="T16" fmla="*/ 3 w 4"/>
                  <a:gd name="T17" fmla="*/ 107 h 853"/>
                  <a:gd name="T18" fmla="*/ 4 w 4"/>
                  <a:gd name="T19" fmla="*/ 213 h 853"/>
                  <a:gd name="T20" fmla="*/ 3 w 4"/>
                  <a:gd name="T21" fmla="*/ 427 h 853"/>
                  <a:gd name="T22" fmla="*/ 2 w 4"/>
                  <a:gd name="T23" fmla="*/ 533 h 853"/>
                  <a:gd name="T24" fmla="*/ 3 w 4"/>
                  <a:gd name="T25" fmla="*/ 640 h 853"/>
                  <a:gd name="T26" fmla="*/ 2 w 4"/>
                  <a:gd name="T27" fmla="*/ 853 h 8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" h="853">
                    <a:moveTo>
                      <a:pt x="2" y="853"/>
                    </a:moveTo>
                    <a:cubicBezTo>
                      <a:pt x="0" y="782"/>
                      <a:pt x="0" y="711"/>
                      <a:pt x="0" y="640"/>
                    </a:cubicBezTo>
                    <a:cubicBezTo>
                      <a:pt x="0" y="604"/>
                      <a:pt x="1" y="569"/>
                      <a:pt x="1" y="533"/>
                    </a:cubicBezTo>
                    <a:cubicBezTo>
                      <a:pt x="1" y="498"/>
                      <a:pt x="1" y="462"/>
                      <a:pt x="1" y="427"/>
                    </a:cubicBezTo>
                    <a:cubicBezTo>
                      <a:pt x="0" y="356"/>
                      <a:pt x="0" y="284"/>
                      <a:pt x="0" y="213"/>
                    </a:cubicBezTo>
                    <a:cubicBezTo>
                      <a:pt x="0" y="178"/>
                      <a:pt x="0" y="142"/>
                      <a:pt x="0" y="107"/>
                    </a:cubicBezTo>
                    <a:cubicBezTo>
                      <a:pt x="1" y="71"/>
                      <a:pt x="1" y="36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3" y="36"/>
                      <a:pt x="3" y="71"/>
                      <a:pt x="3" y="107"/>
                    </a:cubicBezTo>
                    <a:cubicBezTo>
                      <a:pt x="4" y="142"/>
                      <a:pt x="4" y="178"/>
                      <a:pt x="4" y="213"/>
                    </a:cubicBezTo>
                    <a:cubicBezTo>
                      <a:pt x="4" y="284"/>
                      <a:pt x="3" y="356"/>
                      <a:pt x="3" y="427"/>
                    </a:cubicBezTo>
                    <a:cubicBezTo>
                      <a:pt x="3" y="462"/>
                      <a:pt x="2" y="498"/>
                      <a:pt x="2" y="533"/>
                    </a:cubicBezTo>
                    <a:cubicBezTo>
                      <a:pt x="3" y="569"/>
                      <a:pt x="3" y="604"/>
                      <a:pt x="3" y="640"/>
                    </a:cubicBezTo>
                    <a:cubicBezTo>
                      <a:pt x="4" y="711"/>
                      <a:pt x="3" y="782"/>
                      <a:pt x="2" y="853"/>
                    </a:cubicBezTo>
                    <a:close/>
                  </a:path>
                </a:pathLst>
              </a:custGeom>
              <a:solidFill>
                <a:schemeClr val="tx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/>
              </a:p>
            </p:txBody>
          </p:sp>
        </p:grpSp>
        <p:sp>
          <p:nvSpPr>
            <p:cNvPr id="12" name="Freeform 45"/>
            <p:cNvSpPr>
              <a:spLocks noEditPoints="1"/>
            </p:cNvSpPr>
            <p:nvPr/>
          </p:nvSpPr>
          <p:spPr bwMode="auto">
            <a:xfrm rot="16200000" flipV="1">
              <a:off x="5186001" y="5323012"/>
              <a:ext cx="477390" cy="524504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3" name="Freeform 46"/>
            <p:cNvSpPr>
              <a:spLocks noEditPoints="1"/>
            </p:cNvSpPr>
            <p:nvPr/>
          </p:nvSpPr>
          <p:spPr bwMode="auto">
            <a:xfrm rot="16200000" flipV="1">
              <a:off x="5197295" y="5324846"/>
              <a:ext cx="477390" cy="511956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4" name="Freeform 47"/>
            <p:cNvSpPr>
              <a:spLocks noEditPoints="1"/>
            </p:cNvSpPr>
            <p:nvPr/>
          </p:nvSpPr>
          <p:spPr bwMode="auto">
            <a:xfrm rot="16200000" flipV="1">
              <a:off x="11076843" y="5321082"/>
              <a:ext cx="508476" cy="519485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5" name="Freeform 48"/>
            <p:cNvSpPr>
              <a:spLocks noEditPoints="1"/>
            </p:cNvSpPr>
            <p:nvPr/>
          </p:nvSpPr>
          <p:spPr bwMode="auto">
            <a:xfrm rot="16200000" flipV="1">
              <a:off x="11093207" y="5321324"/>
              <a:ext cx="470728" cy="534543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6" name="Freeform 49"/>
            <p:cNvSpPr>
              <a:spLocks noEditPoints="1"/>
            </p:cNvSpPr>
            <p:nvPr/>
          </p:nvSpPr>
          <p:spPr bwMode="auto">
            <a:xfrm rot="16200000" flipV="1">
              <a:off x="11051654" y="771453"/>
              <a:ext cx="468508" cy="519485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7" name="Freeform 50"/>
            <p:cNvSpPr>
              <a:spLocks noEditPoints="1"/>
            </p:cNvSpPr>
            <p:nvPr/>
          </p:nvSpPr>
          <p:spPr bwMode="auto">
            <a:xfrm rot="16200000" flipV="1">
              <a:off x="11044126" y="786511"/>
              <a:ext cx="468508" cy="489370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8" name="Freeform 51"/>
            <p:cNvSpPr>
              <a:spLocks noEditPoints="1"/>
            </p:cNvSpPr>
            <p:nvPr/>
          </p:nvSpPr>
          <p:spPr bwMode="auto">
            <a:xfrm rot="16200000" flipV="1">
              <a:off x="5232723" y="721157"/>
              <a:ext cx="424100" cy="544581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9" name="Freeform 52"/>
            <p:cNvSpPr>
              <a:spLocks noEditPoints="1"/>
            </p:cNvSpPr>
            <p:nvPr/>
          </p:nvSpPr>
          <p:spPr bwMode="auto">
            <a:xfrm rot="16200000" flipV="1">
              <a:off x="5241796" y="749729"/>
              <a:ext cx="428541" cy="491879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836613" y="1031195"/>
            <a:ext cx="5943600" cy="4572000"/>
          </a:xfrm>
          <a:solidFill>
            <a:schemeClr val="accent2">
              <a:lumMod val="40000"/>
              <a:lumOff val="60000"/>
            </a:schemeClr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92891" y="3555521"/>
            <a:ext cx="3840480" cy="216851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595758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479362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624268" y="304800"/>
            <a:ext cx="1729531" cy="56769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199" y="304800"/>
            <a:ext cx="8633671" cy="56769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058033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6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5212" y="304800"/>
            <a:ext cx="10058402" cy="12192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5214" y="1752600"/>
            <a:ext cx="10058400" cy="42291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5213" y="6019801"/>
            <a:ext cx="7620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022B156B-59AE-415F-B24B-8756D48BB97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79613" y="6019801"/>
            <a:ext cx="594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075611" y="6019801"/>
            <a:ext cx="139626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4CF99945-0A15-4715-AB6C-F5E56CF20F70}" type="datetimeFigureOut">
              <a:rPr lang="en-US" smtClean="0"/>
              <a:pPr/>
              <a:t>12/21/2025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6304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61" r:id="rId9"/>
    <p:sldLayoutId id="2147483662" r:id="rId10"/>
    <p:sldLayoutId id="2147483656" r:id="rId11"/>
    <p:sldLayoutId id="2147483657" r:id="rId12"/>
    <p:sldLayoutId id="2147483658" r:id="rId13"/>
    <p:sldLayoutId id="2147483659" r:id="rId14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>
              <a:lumMod val="50000"/>
            </a:schemeClr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18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0664" indent="-283464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8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>
          <p15:clr>
            <a:srgbClr val="F26B43"/>
          </p15:clr>
        </p15:guide>
        <p15:guide id="2" orient="horz" pos="216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hyperlink" Target="https://code.visualstudio.com/docs/languages/cpp" TargetMode="Externa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34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3.jpeg"/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3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85225" y="1752600"/>
            <a:ext cx="6858002" cy="1828800"/>
          </a:xfrm>
        </p:spPr>
        <p:txBody>
          <a:bodyPr>
            <a:normAutofit/>
          </a:bodyPr>
          <a:lstStyle/>
          <a:p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9832" y="1390763"/>
            <a:ext cx="2798257" cy="407647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1673256" y="5467236"/>
            <a:ext cx="6858002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001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开篇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E4495DE-C8A6-9E61-7BD2-E94A7BA78B4C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696750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BB10E721-5A52-F1B4-FA2E-17377C9320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389" y="1257244"/>
            <a:ext cx="7930826" cy="427770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6570" y="400163"/>
            <a:ext cx="2136546" cy="769136"/>
          </a:xfrm>
        </p:spPr>
        <p:txBody>
          <a:bodyPr anchor="ctr">
            <a:normAutofit/>
          </a:bodyPr>
          <a:lstStyle/>
          <a:p>
            <a:pPr algn="ctr"/>
            <a:r>
              <a:rPr lang="zh-CN" altLang="en-US" sz="2000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sz="2000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sz="2000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sz="2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002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的常量、变量、整型、实型和字符型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4625" y="324777"/>
            <a:ext cx="6858002" cy="1614079"/>
          </a:xfrm>
        </p:spPr>
        <p:txBody>
          <a:bodyPr anchor="ctr">
            <a:normAutofit/>
          </a:bodyPr>
          <a:lstStyle/>
          <a:p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9B9076E-BFBE-6109-7C20-C912B26303E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745141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980388" y="5590261"/>
            <a:ext cx="7929444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003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在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VS Code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中配置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C/C++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编程环境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A1EF02E-6A4A-016E-2302-0BAE0742D8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9222" y="2497717"/>
            <a:ext cx="3087485" cy="6763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DA04916-6191-E1A9-7608-A835E58BD5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4728" y="1390763"/>
            <a:ext cx="3210373" cy="392484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2526CCA-C9BE-C3BE-A8CD-09B9725CFA50}"/>
              </a:ext>
            </a:extLst>
          </p:cNvPr>
          <p:cNvSpPr txBox="1"/>
          <p:nvPr/>
        </p:nvSpPr>
        <p:spPr>
          <a:xfrm>
            <a:off x="730048" y="3352012"/>
            <a:ext cx="4046659" cy="276999"/>
          </a:xfrm>
          <a:prstGeom prst="rect">
            <a:avLst/>
          </a:prstGeom>
          <a:solidFill>
            <a:srgbClr val="FFFF00"/>
          </a:solidFill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hlinkClick r:id="rId5"/>
              </a:rPr>
              <a:t>https://code.visualstudio.com/docs/languages/cpp</a:t>
            </a:r>
            <a:endParaRPr lang="en-US" sz="1200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15604" y="137565"/>
            <a:ext cx="6858002" cy="1576879"/>
          </a:xfrm>
        </p:spPr>
        <p:txBody>
          <a:bodyPr>
            <a:normAutofit/>
          </a:bodyPr>
          <a:lstStyle/>
          <a:p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6C9F71-CD23-8772-39B2-976DF3D56867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743372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005023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ABAB06D-7DAE-860A-2513-513ADD2DA6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628" y="1035406"/>
            <a:ext cx="8439150" cy="45548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004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的算术运算符和表达式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6116" y="271083"/>
            <a:ext cx="8246396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A589908-34C2-4101-59D3-A4388A908D0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39148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1EB65C-93C6-6201-C5B2-99893729996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99220" y="1193575"/>
            <a:ext cx="7639762" cy="411884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4952326"/>
            <a:ext cx="11460735" cy="1552335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005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的赋值运算符和逗号运算符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A3BE0DC-EAAB-0E40-8942-24C4A647DA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4305" y="404602"/>
            <a:ext cx="8246396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B0212BE-AA2D-E92C-349E-343FD01FB86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20424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C76560F-A86C-F6B2-2FE3-822B0C0430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086" y="918000"/>
            <a:ext cx="7872499" cy="48880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348835"/>
            <a:ext cx="11549747" cy="1155826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000" dirty="0"/>
              <a:t>006 </a:t>
            </a:r>
            <a:r>
              <a:rPr lang="en-US" altLang="zh-CN" sz="6000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的语句和程序的基本结构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3748" y="169933"/>
            <a:ext cx="7930807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C4E1EEC-41D4-A61F-766B-9F308C6FE25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24690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30001CE-EF97-F773-0CF8-A2040D8723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20718"/>
            <a:ext cx="8398473" cy="390425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007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的数据的输出与输入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1693" y="444951"/>
            <a:ext cx="6858002" cy="1610425"/>
          </a:xfrm>
        </p:spPr>
        <p:txBody>
          <a:bodyPr anchor="ctr">
            <a:normAutofit/>
          </a:bodyPr>
          <a:lstStyle/>
          <a:p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AD4F0CE-6961-9164-B920-D178A18C2D3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651706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EA9AD61-2D7A-47DD-619D-DE361A3DAC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04" y="1600482"/>
            <a:ext cx="8665373" cy="38497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889631" y="222138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008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关系运算符、关系表达式与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逻辑运算符、逻辑表达式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81491" y="647645"/>
            <a:ext cx="6858002" cy="1775920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5298A51-CBD3-B087-867A-036136C21442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227201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DCBD1308-944F-5B9D-58DD-61FFC4952E2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137382" y="1314563"/>
            <a:ext cx="8772450" cy="44217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009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if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语句的三种形式与嵌套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8341" y="717576"/>
            <a:ext cx="6858002" cy="1701236"/>
          </a:xfrm>
          <a:solidFill>
            <a:schemeClr val="bg1">
              <a:lumMod val="95000"/>
              <a:alpha val="69804"/>
            </a:scheme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CFD004-4C28-29F8-5C14-DA942C8BA951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363686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36952FF-D88A-D93B-7074-30728EB1EA0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83704" y="1390764"/>
            <a:ext cx="8485654" cy="421914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010 </a:t>
            </a:r>
            <a:r>
              <a:rPr lang="zh-CN" altLang="en-US" dirty="0"/>
              <a:t>条件运算符和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switch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语句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6296" y="951471"/>
            <a:ext cx="6858002" cy="1555520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6B866A7-8789-9774-A2E0-3A0A6FFF57CB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412362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DE25CD21-BBD2-E3BF-9A41-F4F3F9B0CF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30" y="898017"/>
            <a:ext cx="7829950" cy="513585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011 </a:t>
            </a:r>
            <a:r>
              <a:rPr lang="zh-CN" altLang="en-US" dirty="0"/>
              <a:t>循环控制语句 </a:t>
            </a:r>
            <a:r>
              <a:rPr lang="en-US" altLang="zh-CN" dirty="0" err="1"/>
              <a:t>goto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3768" y="606903"/>
            <a:ext cx="6186370" cy="1545860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191606-5894-11A3-CE40-E3C55975067D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173189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AE138E1-EC57-F14D-62CF-8D3F8806BCBE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E25CD21-BBD2-E3BF-9A41-F4F3F9B0CF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911" y="781909"/>
            <a:ext cx="8056495" cy="528445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3911" y="635225"/>
            <a:ext cx="5844061" cy="1488278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000" dirty="0"/>
              <a:t>C++ </a:t>
            </a:r>
            <a:r>
              <a:rPr lang="zh-CN" altLang="en-US" sz="8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012 </a:t>
            </a:r>
            <a:r>
              <a:rPr lang="zh-CN" altLang="en-US" dirty="0"/>
              <a:t>循环控制语句 </a:t>
            </a:r>
            <a:r>
              <a:rPr lang="en-US" altLang="zh-CN" dirty="0"/>
              <a:t>while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649746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2A8F840-462C-F26E-B996-073AF92CDB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460" y="961506"/>
            <a:ext cx="8140588" cy="477757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013 </a:t>
            </a:r>
            <a:r>
              <a:rPr lang="zh-CN" altLang="en-US" dirty="0"/>
              <a:t>循环控制语句 </a:t>
            </a:r>
            <a:r>
              <a:rPr lang="en-US" altLang="zh-CN" dirty="0"/>
              <a:t>for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3911" y="781162"/>
            <a:ext cx="5184560" cy="1419871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7965DE3-D5F7-2D31-6B60-468B2DC66792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28344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2CF773E-9CFD-E967-CA41-EE31393A5E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8499" y="988910"/>
            <a:ext cx="7218138" cy="504370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014 </a:t>
            </a:r>
            <a:r>
              <a:rPr lang="zh-CN" altLang="en-US" dirty="0"/>
              <a:t>循环的嵌套</a:t>
            </a:r>
            <a:r>
              <a:rPr lang="en-US" altLang="zh-CN" dirty="0"/>
              <a:t>, break</a:t>
            </a:r>
            <a:r>
              <a:rPr lang="en-US" altLang="zh-CN"/>
              <a:t>, continue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2717" y="672942"/>
            <a:ext cx="5533319" cy="1515954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000" dirty="0"/>
              <a:t>C++ </a:t>
            </a:r>
            <a:r>
              <a:rPr lang="zh-CN" altLang="en-US" sz="8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870BCAA-F1AF-F2C6-E749-E848F028697A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07964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8884ABC-057E-C58D-7FE9-884AC17501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911" y="856554"/>
            <a:ext cx="8336859" cy="500121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015 </a:t>
            </a:r>
            <a:r>
              <a:rPr lang="zh-CN" altLang="en-US" dirty="0"/>
              <a:t>数组 </a:t>
            </a:r>
            <a:r>
              <a:rPr lang="en-US" altLang="zh-CN" dirty="0"/>
              <a:t>– </a:t>
            </a:r>
            <a:r>
              <a:rPr lang="zh-CN" altLang="en-US" dirty="0"/>
              <a:t>一维数组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9786" y="667874"/>
            <a:ext cx="4992786" cy="1342998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1AF8211-AE34-3960-7023-9FFE29311EA7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51202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155382" y="5366611"/>
            <a:ext cx="8584517" cy="136727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016 </a:t>
            </a:r>
            <a:r>
              <a:rPr lang="zh-CN" altLang="en-US" sz="6600" dirty="0"/>
              <a:t>数组 </a:t>
            </a:r>
            <a:r>
              <a:rPr lang="en-US" altLang="zh-CN" sz="6600" dirty="0"/>
              <a:t>– </a:t>
            </a:r>
            <a:r>
              <a:rPr lang="zh-CN" altLang="en-US" sz="6600" dirty="0"/>
              <a:t>二维数组</a:t>
            </a:r>
            <a:endParaRPr lang="en-US" sz="6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5363EB9-E0AC-FD11-EEF3-7E00D9E692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494" y="821623"/>
            <a:ext cx="7816245" cy="4585448"/>
          </a:xfrm>
          <a:prstGeom prst="roundRect">
            <a:avLst>
              <a:gd name="adj" fmla="val 16667"/>
            </a:avLst>
          </a:prstGeom>
          <a:ln>
            <a:solidFill>
              <a:srgbClr val="000000">
                <a:alpha val="69804"/>
              </a:srgbClr>
            </a:solidFill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1922" y="781162"/>
            <a:ext cx="5133787" cy="1444147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E3B628F-0CF9-07D6-6DDC-EF593A06AC20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77032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58112" y="-5957"/>
            <a:ext cx="5193502" cy="1442419"/>
          </a:xfrm>
        </p:spPr>
        <p:txBody>
          <a:bodyPr anchor="ctr">
            <a:normAutofit/>
          </a:bodyPr>
          <a:lstStyle/>
          <a:p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83704" y="5754508"/>
            <a:ext cx="11237888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- 1 &amp; 2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定义与初始化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9FDAC87-A4AF-AE8D-27EE-EE7A71C728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354" y="983182"/>
            <a:ext cx="8060069" cy="461634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5809C70-4C8E-14CC-5E0B-1821E8625786}"/>
              </a:ext>
            </a:extLst>
          </p:cNvPr>
          <p:cNvSpPr txBox="1"/>
          <p:nvPr/>
        </p:nvSpPr>
        <p:spPr>
          <a:xfrm>
            <a:off x="18853" y="-5957"/>
            <a:ext cx="1975833" cy="1323439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000" b="1" dirty="0">
                <a:latin typeface="Franklin Gothic Heavy" panose="020B0903020102020204" pitchFamily="34" charset="0"/>
              </a:rPr>
              <a:t>017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919AD97-1DAE-3EBE-05EC-9260B279F7F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41214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C4512-7F86-E76A-EC37-201651F4B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37193-8A91-6774-28AB-660664D2F5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82944" y="103160"/>
            <a:ext cx="6346617" cy="1551661"/>
          </a:xfrm>
        </p:spPr>
        <p:txBody>
          <a:bodyPr anchor="ctr">
            <a:normAutofit/>
          </a:bodyPr>
          <a:lstStyle/>
          <a:p>
            <a:pPr algn="ctr"/>
            <a:r>
              <a:rPr lang="en-US" sz="8000" dirty="0"/>
              <a:t>C++ </a:t>
            </a:r>
            <a:r>
              <a:rPr lang="zh-CN" altLang="en-US" sz="8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62547E-F88D-9A63-F1E7-FEABB78F28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B221A52-D088-7A48-7D5C-F9BAC30AEB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758" y="1112655"/>
            <a:ext cx="8303463" cy="456413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D352FF52-9E42-176D-BCCA-5137963A9BED}"/>
              </a:ext>
            </a:extLst>
          </p:cNvPr>
          <p:cNvSpPr txBox="1">
            <a:spLocks/>
          </p:cNvSpPr>
          <p:nvPr/>
        </p:nvSpPr>
        <p:spPr>
          <a:xfrm>
            <a:off x="83704" y="5754508"/>
            <a:ext cx="11237888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- 3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字符串与结束标记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25E87B-743D-6B89-83E7-130F261AD657}"/>
              </a:ext>
            </a:extLst>
          </p:cNvPr>
          <p:cNvSpPr txBox="1"/>
          <p:nvPr/>
        </p:nvSpPr>
        <p:spPr>
          <a:xfrm>
            <a:off x="18853" y="9557"/>
            <a:ext cx="2360205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018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6F0DA94-E28E-01CA-BDCA-46C510450711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556961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E2770-8E14-D03A-3C67-1100EC215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53C94FB-71D0-92C8-00C6-4448526FC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0956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F621A4B-64E9-A851-208E-11EACB8CB7B6}"/>
              </a:ext>
            </a:extLst>
          </p:cNvPr>
          <p:cNvSpPr txBox="1"/>
          <p:nvPr/>
        </p:nvSpPr>
        <p:spPr>
          <a:xfrm>
            <a:off x="18854" y="9558"/>
            <a:ext cx="2319744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019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873EE31-C63A-3983-C832-2C5DCFBC10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63" y="772789"/>
            <a:ext cx="8480453" cy="51829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82425DC-1B36-1CB1-0485-7479507C74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A161CE8-4CEF-E975-0AA4-117B853651C3}"/>
              </a:ext>
            </a:extLst>
          </p:cNvPr>
          <p:cNvSpPr txBox="1">
            <a:spLocks/>
          </p:cNvSpPr>
          <p:nvPr/>
        </p:nvSpPr>
        <p:spPr>
          <a:xfrm>
            <a:off x="83704" y="5363393"/>
            <a:ext cx="11779220" cy="139144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- 6.3.4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输入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/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输出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007CDD9-1AFF-A579-E346-6FF034FE7B14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16147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04806-D488-753D-6CAB-8408816BD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B940A0-B157-85E0-0D00-6E86A3435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938" y="1201407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FA6AC7D-192E-F28B-107C-AE7D47806D6A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020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DBB73F-9D3B-099B-1EC7-CB40A71D99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429" y="529716"/>
            <a:ext cx="8423121" cy="523265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33FC42D-A318-F5CE-5F38-36C7B7AE6C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DD0005-F76C-6749-7397-30A589A22A10}"/>
              </a:ext>
            </a:extLst>
          </p:cNvPr>
          <p:cNvSpPr txBox="1"/>
          <p:nvPr/>
        </p:nvSpPr>
        <p:spPr>
          <a:xfrm>
            <a:off x="2673178" y="1445426"/>
            <a:ext cx="4616278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puts()</a:t>
            </a:r>
            <a:r>
              <a:rPr lang="zh-CN" altLang="en-US" sz="4400" b="1" dirty="0"/>
              <a:t>：将一个字符串输出到屏幕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EEF7569E-899D-B72D-1C84-579CCAEE6C60}"/>
              </a:ext>
            </a:extLst>
          </p:cNvPr>
          <p:cNvSpPr txBox="1">
            <a:spLocks/>
          </p:cNvSpPr>
          <p:nvPr/>
        </p:nvSpPr>
        <p:spPr>
          <a:xfrm>
            <a:off x="83704" y="5086001"/>
            <a:ext cx="9262124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320116A-18B2-2BC2-8BA5-3F092F6ED9E9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404150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2982D-E6F2-06B4-F8B8-E96EB52AE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061B1B7-040E-B6AE-B042-1961948F2C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67602" y="1100793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0D7C018-140E-D022-52BB-70D62D2160E8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6D0B210-40D2-A0E4-8C66-8C58604D17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574" y="675692"/>
            <a:ext cx="8340657" cy="50201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3EEACDC-A97B-F5A1-8870-CAD79249C3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1C3561-7C9F-DF7B-BEA5-4E4FB3D19387}"/>
              </a:ext>
            </a:extLst>
          </p:cNvPr>
          <p:cNvSpPr txBox="1"/>
          <p:nvPr/>
        </p:nvSpPr>
        <p:spPr>
          <a:xfrm>
            <a:off x="1311593" y="2114518"/>
            <a:ext cx="7902429" cy="76944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strcat(charstr1, charstr2)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1B0031A-DA94-9A82-8F89-8E2C1CA381F0}"/>
              </a:ext>
            </a:extLst>
          </p:cNvPr>
          <p:cNvSpPr txBox="1">
            <a:spLocks/>
          </p:cNvSpPr>
          <p:nvPr/>
        </p:nvSpPr>
        <p:spPr>
          <a:xfrm>
            <a:off x="83704" y="5000031"/>
            <a:ext cx="9315670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00A378-08A2-136C-4E0E-58B5ED3A656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55694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9E58F-529F-8EF0-3DBD-9F915BE44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72A821B-DAF4-DD0F-F5D2-04560B5125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8176" y="1042255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A773E07-0836-73B8-29F7-E1AC0732276E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022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F140F4D-0A21-40A8-E9AD-4CC04C5BD7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001" y="413229"/>
            <a:ext cx="7927740" cy="524616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590B055-CEE0-3911-CACE-2A6CFEE57E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5EE05C-E234-6DC2-5AFF-3542D69C19F8}"/>
              </a:ext>
            </a:extLst>
          </p:cNvPr>
          <p:cNvSpPr txBox="1"/>
          <p:nvPr/>
        </p:nvSpPr>
        <p:spPr>
          <a:xfrm>
            <a:off x="1554609" y="2095796"/>
            <a:ext cx="7902429" cy="76944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strcpy(charstr1, str2)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BA3B09F-735A-840D-C844-7ACFA4FB474D}"/>
              </a:ext>
            </a:extLst>
          </p:cNvPr>
          <p:cNvSpPr txBox="1">
            <a:spLocks/>
          </p:cNvSpPr>
          <p:nvPr/>
        </p:nvSpPr>
        <p:spPr>
          <a:xfrm>
            <a:off x="83703" y="4913534"/>
            <a:ext cx="9373335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-3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79B11FA-0E6A-5A4D-9549-354053E5EC17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015898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9EAC9-66C8-CD77-E74D-E8DAE831C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D53B27E-165F-BF44-953C-424A96E168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8659" y="1167280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9FBCD10-AABA-D061-D519-66F2B8811A5F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705ABC-7195-89A3-3E6B-509BFB03A4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767" y="544379"/>
            <a:ext cx="8357741" cy="529903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26FF39B-71C5-BFD3-5D4A-63866E1F65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61D14E-1E83-CE45-6AAA-62DC32C028DE}"/>
              </a:ext>
            </a:extLst>
          </p:cNvPr>
          <p:cNvSpPr txBox="1"/>
          <p:nvPr/>
        </p:nvSpPr>
        <p:spPr>
          <a:xfrm>
            <a:off x="1019149" y="1574644"/>
            <a:ext cx="790242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CN" sz="4400" b="1" dirty="0"/>
              <a:t>strcmp(str1, charstr2)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CN" sz="4400" b="1" dirty="0"/>
              <a:t>strlen(charstr)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8075C1E-D1EB-48C3-331B-745D52137A79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068388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-4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8CA80A1-EC24-D7D6-912F-F8A8CEAD328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965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62C0F-40BA-F59C-6B00-9297F954E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2AEE4B6-C461-34B3-6B5E-64BAE5E22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901" y="365344"/>
            <a:ext cx="8347200" cy="626487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25C59C6-3365-E777-BD81-F791914EEF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5671" y="1137756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16A3815-3B60-04C7-118A-DA715C26A17A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9B0D73-0822-A0E1-C930-2919DB3FCC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28A760E-6764-A29B-4FA8-9A40B27DDFD5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8870134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7.1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概念和定义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- 7.1.1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基本概念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B295031-9D26-5416-0BB6-363BC01A703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78665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10EDF-B137-C12F-2B81-30A890770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F9295D7-A5E8-7B70-E364-0C78F6D17E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16" y="238715"/>
            <a:ext cx="8657170" cy="657536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589F16F-D20B-2755-5D3D-AF3AED1D14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7437" y="1182277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344FB1E-FAD8-21EB-DD07-754839B31872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23DEB8-A406-6387-5893-CA7686EF36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102855A-640E-6F59-FECE-6BEAE2574B2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173585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7.1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概念和定义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- 7.1.2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定义与返回值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17E7F0D-28AE-DFD8-F950-FA17A664B8EE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041149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34DDFB-374A-B0C2-9C71-5FEB05674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3CA19A2-E5D4-5FDD-F7FC-E9E9AF31A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821" y="294652"/>
            <a:ext cx="8311719" cy="615540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CE50051-DDBB-DB75-6C81-A9BC5132C7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9116" y="1167280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4F626D2-7865-82A7-55B7-488AD80A7D14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73A250-A292-56ED-F566-D03B94F2F1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0382E05-E82D-5564-F64C-184726AA0435}"/>
              </a:ext>
            </a:extLst>
          </p:cNvPr>
          <p:cNvSpPr txBox="1">
            <a:spLocks/>
          </p:cNvSpPr>
          <p:nvPr/>
        </p:nvSpPr>
        <p:spPr>
          <a:xfrm>
            <a:off x="92589" y="4930190"/>
            <a:ext cx="9010952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调用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- 7.2.1&amp;2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调用方式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AF69193-2CD8-CE2E-FC83-F647F36AE1CC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225764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32F86-AE49-E874-E9C4-58F27D478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2B9AA9B-579E-C614-CDFB-8151E6AA45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598" y="262136"/>
            <a:ext cx="8712050" cy="612666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6AE0191-B36E-A64B-04B5-FB7FF58098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2404" y="1105388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4C27A72-9720-F89A-56B7-04A68A68CC0D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FCE5F06-97F5-005B-995E-BE51008FB1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B5EC43B-F6A7-BE37-F3CC-7E0AD79354A0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335426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调用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- 7.2.3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嵌套调用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77CF463-F246-B05F-E90D-2DCE34C57C0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83172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99C45-BE08-0ADA-FA69-36BB8EF94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E58DA19-520C-1889-F4DE-6E189CEF9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958" y="366678"/>
            <a:ext cx="8915326" cy="61246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1D0E2CF-1FB4-DB2D-48CE-DEEAD61175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6219" y="1198325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0286490-4B2B-79F5-F963-B2A2C4DA27D0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1020064-CC26-3F57-65A2-B65E28B0AF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01DA8C7-7C37-BE4B-582C-2244DA8585B5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216581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- 7.3.1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EB43C8-54D8-BC5A-DDAC-34B331B333AC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044835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F98C3-CB79-A2BF-954C-2C332E954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74326DA-3EB8-6554-C51F-1FC7D99F9A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283" y="396154"/>
            <a:ext cx="8706546" cy="585863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5AA6696-CF23-3398-34E2-D7234CD29C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4772" y="1198325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11B0F2B-0E73-D3BE-6205-10A1D1C8B90C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C61DC5-C2C1-D440-97E2-F3E8812C92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73C61BE-9E0E-F1D3-9F1D-8FE905B2142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165493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- 7.3.2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出口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4052492-DCBD-BEB7-7139-D0127C5510A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142553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10BE09-3DA2-E2A5-ECB4-6D392CF18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A65C669-A7C2-C5C2-AF00-2F7BC4B458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2114" y="473384"/>
            <a:ext cx="9043313" cy="60407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5B5E767-C88F-FD67-BEBF-14CCA33D90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B06A6FA-9032-D261-F0CD-5FA28DDBE26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B973F4-A1EB-E405-D8A1-8EC01EADA2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CE42738-2F02-A068-4C3E-96E8A9A72BE3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- 7.3.3&amp;4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讨论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1026" name="Picture 2" descr="汉诺塔问题详解-CSDN博客">
            <a:extLst>
              <a:ext uri="{FF2B5EF4-FFF2-40B4-BE49-F238E27FC236}">
                <a16:creationId xmlns:a16="http://schemas.microsoft.com/office/drawing/2014/main" id="{A358E389-FC20-E369-218F-A091584AFB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3770" y="1063289"/>
            <a:ext cx="4922011" cy="213060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9EC466B-E497-77D3-5F78-2AAFC29A0AEB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59267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C165D-DBA5-A377-E18A-36DF0C23A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E96F262-073C-C764-74CD-03B6C29C9D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35" y="252460"/>
            <a:ext cx="9513791" cy="581179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11A3BE3-E704-A5F4-548D-709A13CD7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6220" y="1145848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E3CA58A-2531-ED3F-486B-C40164F7D97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8DD702-A065-DF6B-6385-90E4ACDDE2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6731F8C-BF5A-0EE1-889D-0F769709A8F9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299012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数组元素作为函数实参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914BE9-CC08-3E64-7753-8B93B434960A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6365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C7067-11AD-20A1-DBF8-E9FE4B3F6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D6B088C-D242-512D-9281-695AD75F3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239" y="371166"/>
            <a:ext cx="9234013" cy="575413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1E88BF9-B624-CA58-C311-01ADAD5792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9252" y="121437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8A73C16-D495-D623-2DDE-C6045C93E68E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D1E3F-24DC-F034-69CA-6588E7C28B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2FE9157-D026-656D-B336-C898E861D36D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550477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数组名作为函数实参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350F430-F133-E980-7869-8BE7A6DD5AD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244158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FA8401-4453-061E-B971-21401930E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2E34198-9B21-1B1A-01A5-B2FD72BC45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03" y="429423"/>
            <a:ext cx="9424439" cy="599915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6BBEDA6-2CDF-E919-84C2-D498A85B5A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142" y="1182277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4A9977C-A6D2-EB40-D4BF-369CC85D56C7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65C8B1-EBFF-12F6-CAD2-1C04E10D0C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6DB3C3A-5A17-B762-3AAF-E972DEB0E51E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253831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多维数组作为函数实参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27035C6-308A-6CD2-3D4A-4B1515CC48C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685575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B2644-03A2-762B-6AF9-766CA5442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397EA94-87A0-4DEB-F99E-3B9C7A64F0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646" y="222529"/>
            <a:ext cx="8560068" cy="607711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02C4A6A-D7AC-221C-7626-F11E8D1947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8197" y="121437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DBA88F6-AD23-134D-6BA1-046A6773D44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78114D-EFFB-7176-5B75-3BA10214A9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83E40C0-359A-20DC-38E5-13AD3AD5A58C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02792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7.5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局部变量和全局变量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- 7.5.1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97BBAB8-4F1B-4ED3-2C51-71C42DB4CAA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026530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CBB50-EBA3-4364-1299-0A4C001C4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471F1C2-0087-3D65-A5BD-48E393E7EA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386" y="333576"/>
            <a:ext cx="8618636" cy="59516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8364C6D-E998-5D9A-43DF-95395E0C08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8197" y="1182277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077C533-34AF-A8C2-9525-EF1B80FD37E3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4B441F-854B-9119-1D75-62FAEE41BD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AE0EC8F-9DEA-47B2-6320-A82940683EE5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197862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7.5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局部变量和全局变量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- 7.5.2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全局变量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C742BE-D773-A163-92B7-B7F90367F5B7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23189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5FDF6-C376-9BE9-9AEA-E0296132A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A2C49BF-9D87-C7B4-9E96-564D7DF7F4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16" y="276796"/>
            <a:ext cx="8632894" cy="60973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BBB8F9E-C8F4-F620-AE76-CAB9849D64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4542" y="1198325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4CD200C-8EC9-D91D-D2B7-CA07BE56893F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CAC5144-93C8-0140-24BB-FC2175868D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B35E619-DFAD-B166-5C71-0C58B9766F11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550477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7.6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变量的存储和引用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- 7.6.1&amp;2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620DB8B-8B53-91D5-37BD-96B978B9160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045925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FEFEC-0F0C-0F5E-7A1E-41218471D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2090081-0A9D-7D3E-F992-7AD13DCBEB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16" y="306977"/>
            <a:ext cx="8748285" cy="56077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F2DEE29-8D6C-1ED9-C098-899BDCE223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8197" y="1064928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9EF1795-3FFE-7E0E-1FFB-DC1EE46C244D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6C768B-26AB-E12C-8BF3-E6695B79BE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3F71622-C89F-9A4C-D46A-E67CC166A93A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114998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7.6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变量的存储和引用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- 7.6.3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全局变量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8B37F72-B0BE-03A8-3352-4A7147471B3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72178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A3610-F939-4C35-8D09-F05E23AF2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A4CA5A5-2305-5BD3-CADF-F78F5964FF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217" y="246807"/>
            <a:ext cx="7926729" cy="606093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32F0725-161C-981E-D52E-B2F1351806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5026" y="1072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DDE3FC8-ADB9-ED12-7CF8-3215E3018808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038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FB95CF-5558-746E-488D-54895AEFF2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40FE6CB-8CDF-7FFA-B505-00BDB6ABC1CD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234276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7.6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变量的存储和引用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- 7.6.4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跨文件引用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&amp; 7.6.5 static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0C06942-7EE3-12FA-9F78-048CFF9838AD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235110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B9C67F-C60F-F6CF-9185-465389A8F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6C6435D-7C14-D60B-4F20-9EE4DF9FC7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971" y="226536"/>
            <a:ext cx="8625368" cy="603016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C78DA47-36F1-E621-4932-5F74C9DEA3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2955" y="1167280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0AE5F7A-EF65-AE75-7AC0-D5EBBB1C15E9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039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01B18E-C28E-5343-CAA6-A9663CBF12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E4961E9-FC00-BACA-4163-A2999B26FF5E}"/>
              </a:ext>
            </a:extLst>
          </p:cNvPr>
          <p:cNvSpPr txBox="1">
            <a:spLocks/>
          </p:cNvSpPr>
          <p:nvPr/>
        </p:nvSpPr>
        <p:spPr>
          <a:xfrm>
            <a:off x="124231" y="4942366"/>
            <a:ext cx="8974462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宏定义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- 8.1.1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不带参数的宏定义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5D5990C-CBF1-BB4E-55A4-37807984326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181261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7BD202-7908-C5A3-C4C1-3BC09E9B6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7B303D1-102B-B869-E17F-7B5F8B2DB4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16" y="197957"/>
            <a:ext cx="8448146" cy="60873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98F9606-F497-4F13-0481-1F83079AB4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0062" y="935163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DC82166-5B32-E5FC-6F3B-460ED4535BF3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FD493F-F103-8378-E625-8A2B3B1FD6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E296FB2-69E2-3E1D-6663-15796A950108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8866708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宏定义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- 8.1.2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带参数的宏定义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88A02E2-F2C8-7075-ACDD-3EBB44DDC8F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95287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63347-80EB-EFD2-65BA-BB981CFFF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8DB240B-A738-9B29-8A6E-90703D5FB8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8197" y="1281153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C637E87-CF66-58D8-1C33-98377AC93642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6F6C42-0516-5B51-14BC-29B06C5D7D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9A82BA0-C172-9AE4-0094-F0170FBE7A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419" y="575864"/>
            <a:ext cx="8362977" cy="57062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BDC536D9-9117-7E0C-F737-04D3A4E20B5B}"/>
              </a:ext>
            </a:extLst>
          </p:cNvPr>
          <p:cNvSpPr txBox="1">
            <a:spLocks/>
          </p:cNvSpPr>
          <p:nvPr/>
        </p:nvSpPr>
        <p:spPr>
          <a:xfrm>
            <a:off x="83704" y="5225586"/>
            <a:ext cx="9245648" cy="109024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8.2.1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文件包含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6C7A86F-D2B1-8CB7-9E77-176F0A739A19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604970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F6D02-DF80-170F-ACC7-0FFE1B2CA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EE725B6-8AD7-4FE7-7D20-17E13ABD3E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628" y="552475"/>
            <a:ext cx="8572599" cy="56776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88B748F-6EB6-8B5C-8D16-54EF8C7C45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8197" y="1155183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E59C37F-AFED-0F8D-D677-8EB6415870F4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7FAE62-6BA0-A679-6C7F-0AF491FCCD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FB52EF9-2446-E7DD-3D56-F4586271DA5B}"/>
              </a:ext>
            </a:extLst>
          </p:cNvPr>
          <p:cNvSpPr txBox="1">
            <a:spLocks/>
          </p:cNvSpPr>
          <p:nvPr/>
        </p:nvSpPr>
        <p:spPr>
          <a:xfrm>
            <a:off x="83703" y="5241770"/>
            <a:ext cx="9068389" cy="993142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8.2.2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条件编译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31D4E1D-E7A1-B5D4-4EA1-C2E3BA4FD78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73445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5F2C8-7506-BCD1-66F7-52A98B77C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9CE74DC-57D8-3940-51CD-C828B15B5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600" y="534758"/>
            <a:ext cx="6762631" cy="584986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018AA97-F026-CE59-0E87-C1AE51831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E07499C-C0CA-2FAB-3D5B-D52BDFC3F3EB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3B48B4-5DDD-B923-89FC-3DB263FC78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879249B-7819-4C59-120B-F02927FD817B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8866088" cy="1136930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基本概念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F48363D-3E0A-95EB-A5EE-70C3A973BEE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453768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4364C-E60F-25BB-5C02-476A1CB50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DEC5432-E396-E887-AB5C-A2618E8083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04" y="494979"/>
            <a:ext cx="8852686" cy="58586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2F8CEA6-E38C-07CF-1D25-CFCBB55B01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B7422D3-DE02-B6E3-2B2D-D9DC2A307C9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A65138-EE5D-9305-03E9-56AE92C7F7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DF9A744-6A9B-AA6B-ED8F-665939D0FF36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9270362" cy="1661164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指针变量的定义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9989AF-1F7E-E1C7-F9CF-908BF94D1124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099467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F1B0B-80F3-2602-19BE-00F6B74BF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E642C35-D581-8EC8-B112-E63CC7E14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481" y="623088"/>
            <a:ext cx="7946989" cy="59689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8411A65-2D73-FD9C-7A90-0CC2A76545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EA89DD4-1294-C49E-4F0D-7EE144A52880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A68D1C-DCFE-9BD2-D71F-817271DADD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57B7A24-228E-E050-2292-38AA800CD50A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8636048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指针变量的引用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-1: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&amp;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和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*</a:t>
            </a:r>
            <a:endParaRPr lang="en-US" sz="7200" dirty="0">
              <a:latin typeface="Arial" panose="020B0604020202020204" pitchFamily="34" charset="0"/>
              <a:ea typeface="华文隶书" panose="02010800040101010101" pitchFamily="2" charset="-122"/>
              <a:cs typeface="Arial" panose="020B06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5EBCEE4-B229-BE66-CA09-90E9E93EC4D7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982695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54955-E48C-7E80-A082-272F01FE3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3A8E8C6-F6A5-0A7A-FBA7-50E1B7467E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481" y="623088"/>
            <a:ext cx="7946989" cy="59689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45CB582-2E8D-7424-C039-BBF82A8ABE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31B17C6-0C9F-CBFA-7C91-57A7B39F341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29EB9D8-B9B3-CBAA-DA8D-0EED182CB6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7B54C4D-D77B-298E-D1B2-802C2F2BD07A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8874946" cy="165292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指针变量的引用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-2: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&amp;*,*&amp;,</a:t>
            </a:r>
            <a:r>
              <a:rPr lang="zh-CN" altLang="en-US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(*p)++,</a:t>
            </a:r>
            <a:r>
              <a:rPr lang="zh-CN" altLang="en-US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*p++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1CA267B-24B9-50FD-E125-949E2934743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27839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6ADDA4-25C5-18D4-0C90-94D99F530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C6C4EA2-E1AB-D938-6F63-497A5B7A0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360" y="611416"/>
            <a:ext cx="8427854" cy="557494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9194657-9A95-0F64-847C-3711D619A6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5A64E91-C9D9-660D-DCE1-98899E977F3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AD25FB-BD6F-B8F0-2FD6-3466E18B0A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672BAFC-6A7C-F44F-A8E0-DB074B4909E7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7663982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指针变量作为函数参数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42C581B-2456-76BC-EDC0-839177647266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029453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444564-7275-5112-02DE-B752AE662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87304F1-9849-7B8D-FD16-FE7F36A303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475" y="623087"/>
            <a:ext cx="8576831" cy="574534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5CD6A9E-807B-C797-E7DA-E417A600B9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82CA062-7A6B-8B9A-1086-28679B272BA3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3C2E1E-DE8A-B13E-326A-B0D96DD9CF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9A72DA1-82DD-7488-3D56-A761EB3D1419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指向数组元素的指针变量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14FEA1-4AFF-2D37-7607-AD54BF05EFE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487643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0604C-9F7A-5D9A-A228-9F934EEA0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AE0227C-5694-2F24-29A6-48FB630D54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266" y="639270"/>
            <a:ext cx="8024454" cy="582221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B3285CD-21CD-23DE-2BF9-F79BA1EA13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8F5CF46-E474-1591-3943-CC19BF699D7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F05E548-7CEF-9153-33CF-DFBA0566EE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2699E0A-5A49-5409-CBA0-DFE54EFE2C32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通过指针引用数组元素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2D5A76-82ED-B811-988F-55E6AE0A5BE1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667784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B9EDC-3396-C2D4-2011-AAC0525026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681CC01-299A-A819-3DD5-0679856405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107" y="817580"/>
            <a:ext cx="8595575" cy="495562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6869BFF-0FAF-DC5A-23FE-B4D9798430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C2C61A7-FBA9-2BD5-0C65-D3CC1EC823F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1D33A4-5ED9-21D0-D068-FD9DB967AD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0E76347-2BB2-B279-98C0-05993FD13DC5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数组名作为函数参数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D8BD3B-5378-81CC-F89F-36D189D43886}"/>
              </a:ext>
            </a:extLst>
          </p:cNvPr>
          <p:cNvSpPr txBox="1"/>
          <p:nvPr/>
        </p:nvSpPr>
        <p:spPr>
          <a:xfrm>
            <a:off x="83701" y="3726382"/>
            <a:ext cx="4046301" cy="120032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（</a:t>
            </a:r>
            <a:r>
              <a:rPr lang="en-US" altLang="zh-CN" b="1" dirty="0">
                <a:solidFill>
                  <a:schemeClr val="bg2">
                    <a:lumMod val="50000"/>
                  </a:schemeClr>
                </a:solidFill>
              </a:rPr>
              <a:t>1</a:t>
            </a:r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）实参和形参都用数组名</a:t>
            </a:r>
            <a:endParaRPr lang="en-US" altLang="zh-CN" b="1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（</a:t>
            </a:r>
            <a:r>
              <a:rPr lang="en-US" altLang="zh-CN" b="1" dirty="0">
                <a:solidFill>
                  <a:schemeClr val="bg2">
                    <a:lumMod val="50000"/>
                  </a:schemeClr>
                </a:solidFill>
              </a:rPr>
              <a:t>2</a:t>
            </a:r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）实参用数组名，形参用指针变量</a:t>
            </a:r>
            <a:endParaRPr lang="en-US" altLang="zh-CN" b="1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zh-CN" altLang="en-US" dirty="0"/>
              <a:t>（</a:t>
            </a:r>
            <a:r>
              <a:rPr lang="en-US" altLang="zh-CN" dirty="0"/>
              <a:t>3</a:t>
            </a:r>
            <a:r>
              <a:rPr lang="zh-CN" altLang="en-US" dirty="0"/>
              <a:t>）实参和形参都用指针变量</a:t>
            </a:r>
            <a:endParaRPr lang="en-US" altLang="zh-CN" dirty="0"/>
          </a:p>
          <a:p>
            <a:r>
              <a:rPr lang="zh-CN" altLang="en-US" dirty="0"/>
              <a:t>（</a:t>
            </a:r>
            <a:r>
              <a:rPr lang="en-US" altLang="zh-CN" dirty="0"/>
              <a:t>4</a:t>
            </a:r>
            <a:r>
              <a:rPr lang="zh-CN" altLang="en-US" dirty="0"/>
              <a:t>）实参用指针变量，形参用数组名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337319E-2E45-599D-DFE9-589A8576F96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2845160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679225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61D69-9208-5AED-F060-B283F184C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547CD5C-790F-3E8C-166B-2418F93446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C8E3304-61B2-FED9-77F4-F0030961C1B1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4422A11-18E4-1114-C92F-35548943C1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83BECB5-E52C-BFDE-5F54-0AE3CDCCBF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107" y="817580"/>
            <a:ext cx="8595575" cy="495562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9C64DB32-50CF-EE79-DFC5-21EA917D5E30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数组名作为函数参数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06846C-EC71-3FCC-3CE1-3B4A3DD0403D}"/>
              </a:ext>
            </a:extLst>
          </p:cNvPr>
          <p:cNvSpPr txBox="1"/>
          <p:nvPr/>
        </p:nvSpPr>
        <p:spPr>
          <a:xfrm>
            <a:off x="83701" y="3726382"/>
            <a:ext cx="4046301" cy="120032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zh-CN" altLang="en-US" dirty="0"/>
              <a:t>（</a:t>
            </a:r>
            <a:r>
              <a:rPr lang="en-US" altLang="zh-CN" dirty="0"/>
              <a:t>1</a:t>
            </a:r>
            <a:r>
              <a:rPr lang="zh-CN" altLang="en-US" dirty="0"/>
              <a:t>）实参和形参都用数组名</a:t>
            </a:r>
            <a:endParaRPr lang="en-US" altLang="zh-CN" dirty="0"/>
          </a:p>
          <a:p>
            <a:r>
              <a:rPr lang="zh-CN" altLang="en-US" dirty="0"/>
              <a:t>（</a:t>
            </a:r>
            <a:r>
              <a:rPr lang="en-US" altLang="zh-CN" dirty="0"/>
              <a:t>2</a:t>
            </a:r>
            <a:r>
              <a:rPr lang="zh-CN" altLang="en-US" dirty="0"/>
              <a:t>）实参用数组名，形参用指针变量</a:t>
            </a:r>
            <a:endParaRPr lang="en-US" altLang="zh-CN" dirty="0"/>
          </a:p>
          <a:p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（</a:t>
            </a:r>
            <a:r>
              <a:rPr lang="en-US" altLang="zh-CN" b="1" dirty="0">
                <a:solidFill>
                  <a:schemeClr val="bg2">
                    <a:lumMod val="50000"/>
                  </a:schemeClr>
                </a:solidFill>
              </a:rPr>
              <a:t>3</a:t>
            </a:r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）实参和形参都用指针变量</a:t>
            </a:r>
            <a:endParaRPr lang="en-US" altLang="zh-CN" b="1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（</a:t>
            </a:r>
            <a:r>
              <a:rPr lang="en-US" altLang="zh-CN" b="1" dirty="0">
                <a:solidFill>
                  <a:schemeClr val="bg2">
                    <a:lumMod val="50000"/>
                  </a:schemeClr>
                </a:solidFill>
              </a:rPr>
              <a:t>4</a:t>
            </a:r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）实参用指针变量，形参用数组名</a:t>
            </a:r>
            <a:endParaRPr lang="en-US" b="1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4F7E20A-ACE1-464B-0E0B-068E2DB7A9BD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2760194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845119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456E8F-39D1-86B3-2E1B-A6DFDADEE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6EB8B2B-32D1-927F-2123-01EE440781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674" y="678224"/>
            <a:ext cx="7857616" cy="51237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6247590-3276-2359-8EDC-EC3161C36D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47351CE-9126-8007-F77A-B566CC32B5DE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34940-0B50-00C0-1A39-E107213736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9BF983A-8A33-1B33-23DB-1C9A8396A316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9.3.4&amp;5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指向多维数组的指针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/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7D02390-0713-2227-AEF1-E9F802B7AE66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162643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A239F-57E1-569A-3CF8-B7B26B4A2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4C3D1EB-8A0A-56AE-5D11-961123CECF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459" y="570488"/>
            <a:ext cx="8210880" cy="571702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E136A5D-BD39-DCF1-008D-7568F385DE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311A4C9-D238-A6EF-316A-BA51D1DA28A4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4A817E-141D-DD7C-42DA-3EEA1E5079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0689C88-EBAD-2E3C-9B4C-91534BE1905F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9.3.6-1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0C36EC-D955-BA31-C40F-C5355E0AC079}"/>
              </a:ext>
            </a:extLst>
          </p:cNvPr>
          <p:cNvSpPr txBox="1"/>
          <p:nvPr/>
        </p:nvSpPr>
        <p:spPr>
          <a:xfrm>
            <a:off x="520925" y="2042144"/>
            <a:ext cx="7571110" cy="523220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zh-CN" altLang="en-US" sz="2800" b="1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指针数组本质上是一个数组，其元素是指针</a:t>
            </a:r>
            <a:endParaRPr lang="en-US" sz="2800" b="1" dirty="0">
              <a:solidFill>
                <a:srgbClr val="FF0000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138585D-7130-ECE9-7B5F-0C3BF00E1A1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17999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3EBCB-DBA8-1CC2-7BF6-71870B874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4F0A855-0582-6FA0-F687-DD9541AA72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76" y="750206"/>
            <a:ext cx="7806022" cy="50922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E57B104-E59D-0574-5E06-8A5E1C5886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236CFBE-A37A-499C-C99B-D58B5B3F3F60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90587C-7C6D-17C4-5A8F-9DA21ED847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9595A5A-4B3A-7124-8093-5D31C825DFC1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9.3.6-2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&amp; 9.3.7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4B9B90-C44E-B671-5D22-BF53B59CD78E}"/>
              </a:ext>
            </a:extLst>
          </p:cNvPr>
          <p:cNvSpPr txBox="1"/>
          <p:nvPr/>
        </p:nvSpPr>
        <p:spPr>
          <a:xfrm>
            <a:off x="520925" y="2042144"/>
            <a:ext cx="7571110" cy="523220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zh-CN" altLang="en-US" sz="2800" b="1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数组指针本质上是一个指针，指向一个数组</a:t>
            </a:r>
            <a:endParaRPr lang="en-US" sz="2800" b="1" dirty="0">
              <a:solidFill>
                <a:srgbClr val="FF0000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7F89FD5-FBC4-9630-C1E9-FE709CAA8B34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808224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7E2CDC-5697-DA0D-D377-E886E4579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2016689-CF58-EBC4-9C84-4BCB829999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635" y="647032"/>
            <a:ext cx="7807018" cy="53812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DF4AE54-C08A-196C-502A-630D6BE5AB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ECF1C3E-AC60-FF03-43D8-142E9DBEF0F5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54E2B9-8660-44BA-D2D7-B6CC0319F3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576A211-8856-A248-E693-C5E1A56CDECF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字符串表示形式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用字符数组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36C87FE-34F1-7E4C-F218-12438D38A14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228566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08F7DF-B512-16E2-2A43-BE52A80A0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D4C9701-5F81-D11A-0AB3-350489B050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635" y="647032"/>
            <a:ext cx="7807018" cy="53812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8CABD0E-46A4-5973-112E-6938D3D718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B2C1CC8-F512-BAA1-6CC3-6174A23383B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32C86B6-8F80-029C-3098-F152A8F01C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D577400-C626-771F-4387-4BF858BC0E49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字符串表示形式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用字符指针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A5FBE47-B57A-B560-F9E5-729934188D7E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692277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D1328B-C59F-0E0E-43E1-A10478886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E436081-A908-50F9-459D-AD439B8BDA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19" y="679731"/>
            <a:ext cx="7910333" cy="522340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7E27ED2-7D02-A56D-AC8F-33EEA47C46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0F8CBE2-0EEE-437B-41E7-D0E9BE2C553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5E8CE4-C7CF-BA18-74D5-AAAD91E692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6B52D6F-E530-752F-0956-747506BB269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字符串指针作为函数参数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4D23B2F-4BBC-3409-2DDE-E8500C2A243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706392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02FE36-E13A-F51C-04B1-8155509A6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02139F3-CFD6-BF67-A201-6162D10E44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983" y="667685"/>
            <a:ext cx="8758532" cy="52766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DF176B1-7510-DB73-FEDF-66E6110171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2E76C71-0DE3-6152-0CCE-43C977CA5EEC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AC29BA-4FAC-6791-380C-E6629D023A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8BF7381-00F2-394D-5774-268D9268DC33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字符指针变量与字符数组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7D7B8B-0F36-E94B-4FE7-93135281ACC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46388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4FF45-3F88-B145-3B4A-BA1C0B18F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C4AF064-F6BF-81B4-07CF-688D520F1C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155" y="590718"/>
            <a:ext cx="8514553" cy="57979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4A19ED3-ADA3-CB5D-F27A-7760D65D05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3D19840-0727-8226-449B-FE3CA7B2696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F995443-77D6-2098-1AD8-BB5FB908C7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72F2D42-0F5A-3940-B42F-4D8299674611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9.5.1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用函数指针变量调用函数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DA0831A-CEBE-9E7A-CC7E-BEF74F2E241D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46818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0E5D9-3808-C2CF-FA8D-BF3E673E1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5549BBB-1A65-0004-A07C-A741F0468D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264" y="713464"/>
            <a:ext cx="7968173" cy="542166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244E03D-DE90-319B-6D56-B1650F7680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14095DE-E1FD-2420-1D66-5120EB149369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88DE84C-7B60-8413-6763-EBF15F7D68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17346E7-7C1F-95B1-9A6C-5B1EB73A56C0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9.5.2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把指向函数的指针变量作为函数参数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9BC76D0-0D5E-D76C-26D2-9293EC41187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512116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789374-A9CA-FCC6-9B17-046388636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1CC30D0-5151-57AF-148C-3CCEBA26C9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341" y="602856"/>
            <a:ext cx="8359747" cy="561587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B537D7F-D46B-53EF-438D-111D7F20C0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02DDAC8-AA7C-A300-5FEB-69973A93DDB3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154DB1-E360-65A6-7927-15CA4991F0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185F0FA-3DBE-D0F9-F6A9-C6241F60C86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</a:t>
            </a: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9.5.3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返回指针值的函数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B059E28-B97A-C0E2-15D7-55716C32EF9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018724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A0F1C5-BF00-4EEF-0C35-C0CE2EB6D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C92052E-0CF4-0C20-A313-D68209DB1C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540" y="743598"/>
            <a:ext cx="8113387" cy="527473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FCEE756-F907-14E7-B7E2-648E5DDB83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1FB54B6-8DA2-7EBA-CFC4-3ACE0509BB45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6B0A966-6B2C-1999-EC43-159E4E7D45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9322ECA-5C10-7877-78C3-91216C1B9819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</a:t>
            </a: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9.6.1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指针数组概念回顾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330580F-4132-8A46-E895-BBCFFEAF073E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540619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F47A2-5652-EC99-1E9E-5833AF83F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5CD87C-3AA5-8DD5-DA00-354CD0471D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981" y="644115"/>
            <a:ext cx="8164970" cy="52656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9F4D254-A80D-7C5A-237D-FB8F8B2A93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1CD554B-FEC8-8AE0-6A20-6939644849DF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D0966-8905-9086-4ED6-F99F174C64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1F07130-9512-4574-A4F7-768AE45D54DA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</a:t>
            </a: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9.6.2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指向指针的指针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6701E10-38D3-AE04-4ACF-40F31ED6942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45681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592A2D-D767-537C-2E93-CCFDE25E6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1345746-D065-A540-ABFF-E01DC192C7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443" y="596900"/>
            <a:ext cx="8069913" cy="542290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5FF7A73-62E9-E227-1676-35A449F15C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DBFE3A8-C6FF-6C4F-9221-72C266105020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CA1E759-3250-3807-5B12-3471D39C3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428E8AC-C4C9-9CD8-2B8A-8A8F81FE685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962930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</a:t>
            </a: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9.6.3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指针数组作为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main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C601DBD-FFCF-D876-BC9F-31AF098F5AD1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09553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511AD-0827-D8AE-0384-F4B4A334A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490BE43-EFC6-4688-38D2-DBC5017D49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263" y="627954"/>
            <a:ext cx="7908557" cy="521854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279D0AB-5B0B-31E5-98D1-30E3FF9B9B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28C4F0D-6FCB-7FBE-1AAD-7F577D3B0F0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09AD49C-6A84-4664-B343-6813D46B89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B1EEB4F-3AC9-9853-58DC-576333C3204F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结构体变量定义，引用和初始化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4C0D52-EEC0-A8B1-097C-C1A2A64872EB}"/>
              </a:ext>
            </a:extLst>
          </p:cNvPr>
          <p:cNvSpPr txBox="1"/>
          <p:nvPr/>
        </p:nvSpPr>
        <p:spPr>
          <a:xfrm>
            <a:off x="5462123" y="2072597"/>
            <a:ext cx="2281954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400" b="1" dirty="0"/>
              <a:t>struct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723447D-464B-534A-4FB8-0B79F8A5C8D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440746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30A14-F9D2-94EF-E0B9-FDE826954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C208C6A-B230-5F09-D72F-DC39FD1C6C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312" y="712616"/>
            <a:ext cx="8309212" cy="533669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21900B5-F6E8-9706-74AF-1C6FB12BCD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26CE034-801E-91C1-EB97-F9F48C47297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3BF933-8772-532C-FAEA-C44AB4C3EA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46C0637-32C8-220B-111E-8AD533BDDC3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10.2.1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C95A72-22F1-0B1F-DA1F-15660194F14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711551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3658A-318E-4468-5C3A-95F51F9E6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1F6EB60-0BD4-F317-BC2E-12BA5CE56C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20" y="651995"/>
            <a:ext cx="8208323" cy="537127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0D3E5C2-FE18-F89D-2EB7-AEABFB7495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128E411-A9E3-94AA-290B-CC87267BF57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B05627-D3FC-A158-977E-15DE30AED8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73FF090-9D1C-2194-AF88-086C9DEF1DDC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结构体指针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50BB860-0BDB-6114-C2AF-7CAEA24C7EFA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238017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8ACDE-E379-828C-DE12-84D862363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FA980F5-0969-C99F-617E-2DC1D94EBF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20" y="651995"/>
            <a:ext cx="8208323" cy="537127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78E9AAF-D934-7737-81E4-F650ED377D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B3BDA5D-6CC4-2E62-4FE7-98C43D4EC1FD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726209-C614-8811-FC0C-68AFD36366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F27F5BA-C5AF-D1B6-300E-F28A05BC4925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结构体指针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16E3977-F5F2-6D6E-7A30-A1076342E66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2204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892C2-1503-F101-B58E-4882FA9EC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8087348-71D2-8ABB-06E4-701A31A6CB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091" y="726260"/>
            <a:ext cx="8283558" cy="496648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5595D21-7181-AA28-40B4-ED3CCB8F2D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8FC3698-8DBF-79A1-4FE4-07C9301BE424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A231AF-FA98-38CB-D0A7-C42067B33F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EA2B34D-C15A-41FE-B328-8316E07E1823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10.2.3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用指向结构体的指针作为函数参数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5BF43C4-C819-B809-0246-8C981C849FF9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38675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9A780-8015-6A99-C43F-2F4FC36E09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59DAB74-FDBB-6F44-B32F-C96F068684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874" y="609826"/>
            <a:ext cx="8280822" cy="513990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3D5ED35-A67A-66BD-E55A-14190A9E15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72C09EB-1CB3-C509-B959-EEA210550A4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43E036-091D-9ACF-7AD3-C3011E8170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9A1811B-2BE1-BD06-1F14-7CF189A789D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10.3.1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union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5DD3C6-5599-8FF0-5FED-DB535FA52DCA}"/>
              </a:ext>
            </a:extLst>
          </p:cNvPr>
          <p:cNvSpPr txBox="1"/>
          <p:nvPr/>
        </p:nvSpPr>
        <p:spPr>
          <a:xfrm>
            <a:off x="5462123" y="2072597"/>
            <a:ext cx="2281954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400" b="1" dirty="0"/>
              <a:t>union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D7C34FA-A15A-A192-E7C4-B917B27FF3D4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582520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9888B-0C4D-0DE9-C433-4261A5EAC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D2BEE7F-34CC-2EBE-7C05-12CE4815C5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140" y="738152"/>
            <a:ext cx="8249801" cy="496268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1B7C134-E118-B950-5449-C4C0CDA48D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A78DDC2-B811-DA6D-4E5A-14ABC21F5ABC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9E78CA-9514-D007-3BB2-18B3504112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2E6947-BB29-3077-970A-84FC60ADAD64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10.3.2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枚举类型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enum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CE78BF-CF88-5E5B-7559-1F0369A242F8}"/>
              </a:ext>
            </a:extLst>
          </p:cNvPr>
          <p:cNvSpPr txBox="1"/>
          <p:nvPr/>
        </p:nvSpPr>
        <p:spPr>
          <a:xfrm>
            <a:off x="5502583" y="1995723"/>
            <a:ext cx="2281954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400" b="1" dirty="0"/>
              <a:t>enum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0D6F9D0-E208-C96E-117F-FDB9040244AE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675087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B3EAE-A3DD-9184-8ED0-3F2842E14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CD9AEAA-A10C-C7E5-CF65-65F2DED4B2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692" y="698264"/>
            <a:ext cx="8202170" cy="50389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BA6069F-A845-10FC-1F11-FA6FE038E1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5E71708-07A1-9319-D452-F741F388F36C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9177C3-2D96-6F06-3954-BAB4D7C73A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8679CC7-A573-2DD1-B57F-31BC87BE8787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10.3.3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typedef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定义类型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8C4B2F-6290-5CE9-DC8F-A6B8133E3C95}"/>
              </a:ext>
            </a:extLst>
          </p:cNvPr>
          <p:cNvSpPr txBox="1"/>
          <p:nvPr/>
        </p:nvSpPr>
        <p:spPr>
          <a:xfrm>
            <a:off x="5502583" y="1995723"/>
            <a:ext cx="2443796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zh-CN" sz="4400" b="1" dirty="0"/>
              <a:t>typedef</a:t>
            </a:r>
            <a:endParaRPr lang="en-US" sz="4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F027DA5-3FB8-D74C-8937-385EF75C9AB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8300196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65111-193A-341A-9F74-26114C156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/c++ logo">
            <a:extLst>
              <a:ext uri="{FF2B5EF4-FFF2-40B4-BE49-F238E27FC236}">
                <a16:creationId xmlns:a16="http://schemas.microsoft.com/office/drawing/2014/main" id="{F920F995-4C0F-92CE-FDE3-20EF40F963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66" y="3145367"/>
            <a:ext cx="6989389" cy="259497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771A633-6FE1-9FD5-ACA1-7F28C5779374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091697" y="883582"/>
            <a:ext cx="2288871" cy="226178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AE3147D-D7C6-FE6D-CFC9-744149EFB967}"/>
              </a:ext>
            </a:extLst>
          </p:cNvPr>
          <p:cNvCxnSpPr>
            <a:cxnSpLocks/>
          </p:cNvCxnSpPr>
          <p:nvPr/>
        </p:nvCxnSpPr>
        <p:spPr>
          <a:xfrm>
            <a:off x="1690588" y="5163316"/>
            <a:ext cx="1670678" cy="132583"/>
          </a:xfrm>
          <a:prstGeom prst="line">
            <a:avLst/>
          </a:prstGeom>
          <a:ln w="21590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54545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A7AD5B-C0DD-3F5C-1D90-D619222A1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/c++ logo">
            <a:extLst>
              <a:ext uri="{FF2B5EF4-FFF2-40B4-BE49-F238E27FC236}">
                <a16:creationId xmlns:a16="http://schemas.microsoft.com/office/drawing/2014/main" id="{90401203-F7E6-FA23-657C-5519BE2219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66" y="3145367"/>
            <a:ext cx="6989389" cy="259497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910C0ED-B6B3-A2C0-A7AF-773FE06954BC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091697" y="883582"/>
            <a:ext cx="2288871" cy="226178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6A5AD28-E533-7C8D-D552-849B2BA29E50}"/>
              </a:ext>
            </a:extLst>
          </p:cNvPr>
          <p:cNvCxnSpPr>
            <a:cxnSpLocks/>
          </p:cNvCxnSpPr>
          <p:nvPr/>
        </p:nvCxnSpPr>
        <p:spPr>
          <a:xfrm>
            <a:off x="3756455" y="5315716"/>
            <a:ext cx="4297020" cy="323595"/>
          </a:xfrm>
          <a:prstGeom prst="line">
            <a:avLst/>
          </a:prstGeom>
          <a:ln w="21590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36353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Nature Illustration 16x9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03431377.potx" id="{56A48130-F36A-41C3-8C0C-0EF853C6708B}" vid="{0432F83B-7085-406B-BFE7-677E72A6CADA}"/>
    </a:ext>
  </a:extLst>
</a:theme>
</file>

<file path=ppt/theme/theme2.xml><?xml version="1.0" encoding="utf-8"?>
<a:theme xmlns:a="http://schemas.openxmlformats.org/drawingml/2006/main" name="Office Theme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Rainbow presentation</Template>
  <TotalTime>17808</TotalTime>
  <Words>1383</Words>
  <Application>Microsoft Office PowerPoint</Application>
  <PresentationFormat>Widescreen</PresentationFormat>
  <Paragraphs>261</Paragraphs>
  <Slides>74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80" baseType="lpstr">
      <vt:lpstr>STKaiti</vt:lpstr>
      <vt:lpstr>华文隶书</vt:lpstr>
      <vt:lpstr>Arial</vt:lpstr>
      <vt:lpstr>Franklin Gothic Heavy</vt:lpstr>
      <vt:lpstr>Segoe Print</vt:lpstr>
      <vt:lpstr>Nature Illustration 16x9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C++ 新经典</dc:title>
  <dc:creator>Zhao Xiaoqi</dc:creator>
  <cp:lastModifiedBy>Xiaoqi Zhao</cp:lastModifiedBy>
  <cp:revision>113</cp:revision>
  <dcterms:created xsi:type="dcterms:W3CDTF">2023-09-30T18:06:47Z</dcterms:created>
  <dcterms:modified xsi:type="dcterms:W3CDTF">2025-12-22T02:07:27Z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540963-e559-4020-8a90-fe8a502c2801_Enabled">
    <vt:lpwstr>true</vt:lpwstr>
  </property>
  <property fmtid="{D5CDD505-2E9C-101B-9397-08002B2CF9AE}" pid="3" name="MSIP_Label_19540963-e559-4020-8a90-fe8a502c2801_SetDate">
    <vt:lpwstr>2023-09-30T18:12:37Z</vt:lpwstr>
  </property>
  <property fmtid="{D5CDD505-2E9C-101B-9397-08002B2CF9AE}" pid="4" name="MSIP_Label_19540963-e559-4020-8a90-fe8a502c2801_Method">
    <vt:lpwstr>Standard</vt:lpwstr>
  </property>
  <property fmtid="{D5CDD505-2E9C-101B-9397-08002B2CF9AE}" pid="5" name="MSIP_Label_19540963-e559-4020-8a90-fe8a502c2801_Name">
    <vt:lpwstr>19540963-e559-4020-8a90-fe8a502c2801</vt:lpwstr>
  </property>
  <property fmtid="{D5CDD505-2E9C-101B-9397-08002B2CF9AE}" pid="6" name="MSIP_Label_19540963-e559-4020-8a90-fe8a502c2801_SiteId">
    <vt:lpwstr>f25493ae-1c98-41d7-8a33-0be75f5fe603</vt:lpwstr>
  </property>
  <property fmtid="{D5CDD505-2E9C-101B-9397-08002B2CF9AE}" pid="7" name="MSIP_Label_19540963-e559-4020-8a90-fe8a502c2801_ActionId">
    <vt:lpwstr>8fb04f6f-6ae6-4c84-8a80-60587ab7689e</vt:lpwstr>
  </property>
  <property fmtid="{D5CDD505-2E9C-101B-9397-08002B2CF9AE}" pid="8" name="MSIP_Label_19540963-e559-4020-8a90-fe8a502c2801_ContentBits">
    <vt:lpwstr>0</vt:lpwstr>
  </property>
</Properties>
</file>